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C9A961"/>
                </a:solidFill>
                <a:latin typeface="Georgia"/>
              </a:defRPr>
            </a:pPr>
            <a:r>
              <a:t>★ Marhba</a:t>
            </a:r>
          </a:p>
          <a:p>
            <a:pPr>
              <a:spcAft>
                <a:spcPts val="1400"/>
              </a:spcAft>
              <a:defRPr sz="4400" b="1">
                <a:solidFill>
                  <a:srgbClr val="2A2825"/>
                </a:solidFill>
                <a:latin typeface="Georgia"/>
              </a:defRPr>
            </a:pPr>
            <a:r>
              <a:t>Minimalist Mobile Authentication App</a:t>
            </a:r>
          </a:p>
          <a:p>
            <a:pPr>
              <a:defRPr sz="1800">
                <a:solidFill>
                  <a:srgbClr val="7A7570"/>
                </a:solidFill>
                <a:latin typeface="Inter"/>
              </a:defRPr>
            </a:pPr>
            <a:r>
              <a:t>A secure, dual-protected authentication system with a warm Moroccan aesthetic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Inter"/>
              </a:defRPr>
            </a:pPr>
            <a:r>
              <a:t>Marhba مرحباً   |   Security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A2825"/>
                </a:solidFill>
                <a:latin typeface="Georgia"/>
              </a:defRPr>
            </a:pPr>
            <a:r>
              <a:t>🛡️ The Golden Rule: Double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A2825"/>
                </a:solidFill>
                <a:latin typeface="Inter"/>
              </a:defRPr>
            </a:pPr>
            <a:r>
              <a:t>A protected route on the frontend is never enough. Security is strictly enforced on both layers:</a:t>
            </a:r>
          </a:p>
          <a:p>
            <a:pPr>
              <a:defRPr sz="1500" b="1">
                <a:solidFill>
                  <a:srgbClr val="F07856"/>
                </a:solidFill>
                <a:latin typeface="Inter"/>
              </a:defRPr>
            </a:pPr>
            <a:r>
              <a:t>✦ Backend-Side Guards</a:t>
            </a:r>
          </a:p>
          <a:p>
            <a:pPr>
              <a:spcAft>
                <a:spcPts val="1000"/>
              </a:spcAft>
              <a:defRPr sz="1300">
                <a:solidFill>
                  <a:srgbClr val="7A7570"/>
                </a:solidFill>
                <a:latin typeface="Inter"/>
              </a:defRPr>
            </a:pPr>
            <a:r>
              <a:t>Endpoints are strictly protected via JWT token-verification middlewares. Unauthorized requests fail immediately at the API boundary.</a:t>
            </a:r>
          </a:p>
          <a:p>
            <a:pPr>
              <a:defRPr sz="1500" b="1">
                <a:solidFill>
                  <a:srgbClr val="F07856"/>
                </a:solidFill>
                <a:latin typeface="Inter"/>
              </a:defRPr>
            </a:pPr>
            <a:r>
              <a:t>✦ Frontend-Side Guards</a:t>
            </a:r>
          </a:p>
          <a:p>
            <a:pPr>
              <a:spcAft>
                <a:spcPts val="1000"/>
              </a:spcAft>
              <a:defRPr sz="1300">
                <a:solidFill>
                  <a:srgbClr val="7A7570"/>
                </a:solidFill>
                <a:latin typeface="Inter"/>
              </a:defRPr>
            </a:pPr>
            <a:r>
              <a:t>Screens are guarded via Expo Router context and custom root layouts (&lt;Stack.Protected&gt;) to prevent unauthorized routing.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011680"/>
            <a:ext cx="4846320" cy="3840480"/>
          </a:xfrm>
          <a:prstGeom prst="rect">
            <a:avLst/>
          </a:prstGeom>
          <a:solidFill>
            <a:srgbClr val="F5F2ED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2A2825"/>
                </a:solidFill>
                <a:latin typeface="Georgia"/>
              </a:defRPr>
            </a:pPr>
            <a:r>
              <a:t>Architectural Flow:</a:t>
            </a:r>
          </a:p>
          <a:p>
            <a:pPr>
              <a:spcAft>
                <a:spcPts val="600"/>
              </a:spcAft>
              <a:defRPr sz="1200">
                <a:solidFill>
                  <a:srgbClr val="2A2825"/>
                </a:solidFill>
                <a:latin typeface="Inter"/>
              </a:defRPr>
            </a:pPr>
            <a:r>
              <a:t>⚙️ User Action -&gt; Web/Mobile Client</a:t>
            </a:r>
          </a:p>
          <a:p>
            <a:pPr>
              <a:spcAft>
                <a:spcPts val="600"/>
              </a:spcAft>
              <a:defRPr sz="1200">
                <a:solidFill>
                  <a:srgbClr val="2A2825"/>
                </a:solidFill>
                <a:latin typeface="Inter"/>
              </a:defRPr>
            </a:pPr>
            <a:r>
              <a:t>⚙️ Zustand Auth Store (Restores session / Token lookup)</a:t>
            </a:r>
          </a:p>
          <a:p>
            <a:pPr>
              <a:spcAft>
                <a:spcPts val="600"/>
              </a:spcAft>
              <a:defRPr sz="1200">
                <a:solidFill>
                  <a:srgbClr val="2A2825"/>
                </a:solidFill>
                <a:latin typeface="Inter"/>
              </a:defRPr>
            </a:pPr>
            <a:r>
              <a:t>⚙️ Axios Configured Interceptor (Bearer JWT injection)</a:t>
            </a:r>
          </a:p>
          <a:p>
            <a:pPr>
              <a:spcAft>
                <a:spcPts val="600"/>
              </a:spcAft>
              <a:defRPr sz="1200">
                <a:solidFill>
                  <a:srgbClr val="2A2825"/>
                </a:solidFill>
                <a:latin typeface="Inter"/>
              </a:defRPr>
            </a:pPr>
            <a:r>
              <a:t>⚙️ Backend Routing Control Layer</a:t>
            </a:r>
          </a:p>
          <a:p>
            <a:pPr>
              <a:spcAft>
                <a:spcPts val="600"/>
              </a:spcAft>
              <a:defRPr sz="1200">
                <a:solidFill>
                  <a:srgbClr val="2A2825"/>
                </a:solidFill>
                <a:latin typeface="Inter"/>
              </a:defRPr>
            </a:pPr>
            <a:r>
              <a:t>⚙️ Express Validation Middleware (Zod check)</a:t>
            </a:r>
          </a:p>
          <a:p>
            <a:pPr>
              <a:spcAft>
                <a:spcPts val="600"/>
              </a:spcAft>
              <a:defRPr sz="1200">
                <a:solidFill>
                  <a:srgbClr val="2A2825"/>
                </a:solidFill>
                <a:latin typeface="Inter"/>
              </a:defRPr>
            </a:pPr>
            <a:r>
              <a:t>⚙️ Authentication Middleware (JWT signature verify)</a:t>
            </a:r>
          </a:p>
          <a:p>
            <a:pPr>
              <a:spcAft>
                <a:spcPts val="600"/>
              </a:spcAft>
              <a:defRPr sz="1200">
                <a:solidFill>
                  <a:srgbClr val="2A2825"/>
                </a:solidFill>
                <a:latin typeface="Inter"/>
              </a:defRPr>
            </a:pPr>
            <a:r>
              <a:t>⚙️ Sequelize Postgres Database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Inter"/>
              </a:defRPr>
            </a:pPr>
            <a:r>
              <a:t>Marhba مرحباً   |   Key Features &amp;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A2825"/>
                </a:solidFill>
                <a:latin typeface="Georgia"/>
              </a:defRPr>
            </a:pPr>
            <a:r>
              <a:t>🚀 Core Capabilities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828800"/>
          </a:xfrm>
          <a:prstGeom prst="rect">
            <a:avLst/>
          </a:prstGeom>
          <a:solidFill>
            <a:srgbClr val="F5F2ED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07856"/>
                </a:solidFill>
                <a:latin typeface="Georgia"/>
              </a:defRPr>
            </a:pPr>
            <a:r>
              <a:t>★ Secure Storage</a:t>
            </a:r>
          </a:p>
          <a:p>
            <a:pPr>
              <a:defRPr sz="1300">
                <a:solidFill>
                  <a:srgbClr val="7A7570"/>
                </a:solidFill>
                <a:latin typeface="Inter"/>
              </a:defRPr>
            </a:pPr>
            <a:r>
              <a:t>Safe session storage via expo-secure-store hardware keychain.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1828800"/>
          </a:xfrm>
          <a:prstGeom prst="rect">
            <a:avLst/>
          </a:prstGeom>
          <a:solidFill>
            <a:srgbClr val="F5F2ED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07856"/>
                </a:solidFill>
                <a:latin typeface="Georgia"/>
              </a:defRPr>
            </a:pPr>
            <a:r>
              <a:t>★ Global Zustand Store</a:t>
            </a:r>
          </a:p>
          <a:p>
            <a:pPr>
              <a:defRPr sz="1300">
                <a:solidFill>
                  <a:srgbClr val="7A7570"/>
                </a:solidFill>
                <a:latin typeface="Inter"/>
              </a:defRPr>
            </a:pPr>
            <a:r>
              <a:t>Universal client state managing credentials and request loading states.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828800"/>
          </a:xfrm>
          <a:prstGeom prst="rect">
            <a:avLst/>
          </a:prstGeom>
          <a:solidFill>
            <a:srgbClr val="F5F2ED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07856"/>
                </a:solidFill>
                <a:latin typeface="Georgia"/>
              </a:defRPr>
            </a:pPr>
            <a:r>
              <a:t>★ Robust MVC Backend</a:t>
            </a:r>
          </a:p>
          <a:p>
            <a:pPr>
              <a:defRPr sz="1300">
                <a:solidFill>
                  <a:srgbClr val="7A7570"/>
                </a:solidFill>
                <a:latin typeface="Inter"/>
              </a:defRPr>
            </a:pPr>
            <a:r>
              <a:t>Node.js Express framework separating routes, controllers, and models.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828800"/>
          </a:xfrm>
          <a:prstGeom prst="rect">
            <a:avLst/>
          </a:prstGeom>
          <a:solidFill>
            <a:srgbClr val="F5F2ED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07856"/>
                </a:solidFill>
                <a:latin typeface="Georgia"/>
              </a:defRPr>
            </a:pPr>
            <a:r>
              <a:t>★ Zero-Leak Control</a:t>
            </a:r>
          </a:p>
          <a:p>
            <a:pPr>
              <a:defRPr sz="1300">
                <a:solidFill>
                  <a:srgbClr val="7A7570"/>
                </a:solidFill>
                <a:latin typeface="Inter"/>
              </a:defRPr>
            </a:pPr>
            <a:r>
              <a:t>Bcrypt security guaranteeing password hashes are omitted in database replies.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Inter"/>
              </a:defRPr>
            </a:pPr>
            <a:r>
              <a:t>Marhba مرحباً   |   Aesthetic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A2825"/>
                </a:solidFill>
                <a:latin typeface="Georgia"/>
              </a:defRPr>
            </a:pPr>
            <a:r>
              <a:t>🎨 Moroccan-Inspired Aesthetic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A2825"/>
                </a:solidFill>
                <a:latin typeface="Inter"/>
              </a:defRPr>
            </a:pPr>
            <a:r>
              <a:t>A carefully curated visual language inspired by hospitality and Moroccan craftsmanship:</a:t>
            </a:r>
          </a:p>
          <a:p>
            <a:pPr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Colors</a:t>
            </a:r>
          </a:p>
          <a:p>
            <a:pPr>
              <a:spcAft>
                <a:spcPts val="1000"/>
              </a:spcAft>
              <a:defRPr sz="1200">
                <a:solidFill>
                  <a:srgbClr val="7A7570"/>
                </a:solidFill>
                <a:latin typeface="Inter"/>
              </a:defRPr>
            </a:pPr>
            <a:r>
              <a:t>Cream background (#FAF8F3), light beige input panels (#F5F2ED), terracotta coral accents (#F07856), and gold framing (#C9A961).</a:t>
            </a:r>
          </a:p>
          <a:p>
            <a:pPr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Typography Pairing</a:t>
            </a:r>
          </a:p>
          <a:p>
            <a:pPr>
              <a:spcAft>
                <a:spcPts val="1000"/>
              </a:spcAft>
              <a:defRPr sz="1200">
                <a:solidFill>
                  <a:srgbClr val="7A7570"/>
                </a:solidFill>
                <a:latin typeface="Inter"/>
              </a:defRPr>
            </a:pPr>
            <a:r>
              <a:t>Serif display headings (Georgia/Garamond) paired with sans-serif body typography (Inter).</a:t>
            </a:r>
          </a:p>
          <a:p>
            <a:pPr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Micro-interactions</a:t>
            </a:r>
          </a:p>
          <a:p>
            <a:pPr>
              <a:spcAft>
                <a:spcPts val="1000"/>
              </a:spcAft>
              <a:defRPr sz="1200">
                <a:solidFill>
                  <a:srgbClr val="7A7570"/>
                </a:solidFill>
                <a:latin typeface="Inter"/>
              </a:defRPr>
            </a:pPr>
            <a:r>
              <a:t>Focus animations with subtle coral glows, button transitions, and visibility toggles.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286000"/>
            <a:ext cx="2286000" cy="1280160"/>
          </a:xfrm>
          <a:prstGeom prst="rect">
            <a:avLst/>
          </a:prstGeom>
          <a:solidFill>
            <a:srgbClr val="FAF8F3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A2825"/>
                </a:solidFill>
                <a:latin typeface="Inter"/>
              </a:defRPr>
            </a:pPr>
            <a:r>
              <a:t>Cream (Bg)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2286000"/>
            <a:ext cx="2286000" cy="1280160"/>
          </a:xfrm>
          <a:prstGeom prst="rect">
            <a:avLst/>
          </a:prstGeom>
          <a:solidFill>
            <a:srgbClr val="F5F2ED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A2825"/>
                </a:solidFill>
                <a:latin typeface="Inter"/>
              </a:defRPr>
            </a:pPr>
            <a:r>
              <a:t>Beige (Input)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3931920"/>
            <a:ext cx="2286000" cy="1280160"/>
          </a:xfrm>
          <a:prstGeom prst="rect">
            <a:avLst/>
          </a:prstGeom>
          <a:solidFill>
            <a:srgbClr val="F07856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Terracotta Coral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3931920"/>
            <a:ext cx="2286000" cy="1280160"/>
          </a:xfrm>
          <a:prstGeom prst="rect">
            <a:avLst/>
          </a:prstGeom>
          <a:solidFill>
            <a:srgbClr val="C9A961"/>
          </a:solidFill>
          <a:ln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Branding Gold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Inter"/>
              </a:defRPr>
            </a:pPr>
            <a:r>
              <a:t>Marhba مرحباً   |   Frontend Mobile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A2825"/>
                </a:solidFill>
                <a:latin typeface="Georgia"/>
              </a:defRPr>
            </a:pPr>
            <a:r>
              <a:t>📱 Mobile 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Expo Router Guarding</a:t>
            </a:r>
          </a:p>
          <a:p>
            <a:pPr>
              <a:defRPr sz="1250">
                <a:solidFill>
                  <a:srgbClr val="7A7570"/>
                </a:solidFill>
                <a:latin typeface="Inter"/>
              </a:defRPr>
            </a:pPr>
            <a:r>
              <a:t>Routes are grouped strictly into /(auth) (public screens like login and register) and /(app) (secured screens like dashboard/home).</a:t>
            </a:r>
          </a:p>
          <a:p>
            <a:pPr>
              <a:spcBef>
                <a:spcPts val="800"/>
              </a:spcBef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Axios Interceptor client</a:t>
            </a:r>
          </a:p>
          <a:p>
            <a:pPr>
              <a:defRPr sz="1250">
                <a:solidFill>
                  <a:srgbClr val="7A7570"/>
                </a:solidFill>
                <a:latin typeface="Inter"/>
              </a:defRPr>
            </a:pPr>
            <a:r>
              <a:t>Configured instance dynamically retrieves active JWT tokens from hardware secure-storage and injects them to outbound header payloads.</a:t>
            </a:r>
          </a:p>
          <a:p>
            <a:pPr>
              <a:spcBef>
                <a:spcPts val="800"/>
              </a:spcBef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Zustand global synchronization</a:t>
            </a:r>
          </a:p>
          <a:p>
            <a:pPr>
              <a:defRPr sz="1250">
                <a:solidFill>
                  <a:srgbClr val="7A7570"/>
                </a:solidFill>
                <a:latin typeface="Inter"/>
              </a:defRPr>
            </a:pPr>
            <a:r>
              <a:t>Coordinated store manages auth transactions asynchronously, ensuring robust state transition metrics across screens.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011680"/>
            <a:ext cx="4846320" cy="3840480"/>
          </a:xfrm>
          <a:prstGeom prst="rect">
            <a:avLst/>
          </a:prstGeom>
          <a:solidFill>
            <a:srgbClr val="2A2825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200">
                <a:solidFill>
                  <a:srgbClr val="C9A961"/>
                </a:solidFill>
                <a:latin typeface="Consolas"/>
              </a:defRPr>
            </a:pPr>
            <a:r>
              <a:t>// Zustand Store Hook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export const useAuthStore = create((set) =&gt; ({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user: null, token: null,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isAuthenticated: false,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login: async (email, password) =&gt; {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const res = await api.post('/auth/login',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  { email, password });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const { token, user } = res.data;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await SecureStore.setItemAsync('jwt', token);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set({ token, user, isAuthenticated: true });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}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}));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Inter"/>
              </a:defRPr>
            </a:pPr>
            <a:r>
              <a:t>Marhba مرحباً   |   Backend Middleware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A2825"/>
                </a:solidFill>
                <a:latin typeface="Georgia"/>
              </a:defRPr>
            </a:pPr>
            <a:r>
              <a:t>🔌 Backend MVC Middleware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Logger middleware</a:t>
            </a:r>
          </a:p>
          <a:p>
            <a:pPr>
              <a:defRPr sz="1250">
                <a:solidFill>
                  <a:srgbClr val="7A7570"/>
                </a:solidFill>
                <a:latin typeface="Inter"/>
              </a:defRPr>
            </a:pPr>
            <a:r>
              <a:t>Records incoming server access logs displaying HTTP method, endpoint URLs, and precise server timing indexes.</a:t>
            </a:r>
          </a:p>
          <a:p>
            <a:pPr>
              <a:spcBef>
                <a:spcPts val="800"/>
              </a:spcBef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Zod Validation layer</a:t>
            </a:r>
          </a:p>
          <a:p>
            <a:pPr>
              <a:defRPr sz="1250">
                <a:solidFill>
                  <a:srgbClr val="7A7570"/>
                </a:solidFill>
                <a:latin typeface="Inter"/>
              </a:defRPr>
            </a:pPr>
            <a:r>
              <a:t>Intercepts payloads immediately at controller boundaries, parsing email/password shapes using schema structures.</a:t>
            </a:r>
          </a:p>
          <a:p>
            <a:pPr>
              <a:spcBef>
                <a:spcPts val="800"/>
              </a:spcBef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JWT Authentication</a:t>
            </a:r>
          </a:p>
          <a:p>
            <a:pPr>
              <a:defRPr sz="1250">
                <a:solidFill>
                  <a:srgbClr val="7A7570"/>
                </a:solidFill>
                <a:latin typeface="Inter"/>
              </a:defRPr>
            </a:pPr>
            <a:r>
              <a:t>Verifies authorization bearer payloads prior to hitting critical route controllers. Populates request profile payload securely.</a:t>
            </a:r>
          </a:p>
          <a:p>
            <a:pPr>
              <a:spcBef>
                <a:spcPts val="800"/>
              </a:spcBef>
              <a:defRPr sz="1400" b="1">
                <a:solidFill>
                  <a:srgbClr val="F07856"/>
                </a:solidFill>
                <a:latin typeface="Inter"/>
              </a:defRPr>
            </a:pPr>
            <a:r>
              <a:t>✦ Global Error Interceptor</a:t>
            </a:r>
          </a:p>
          <a:p>
            <a:pPr>
              <a:defRPr sz="1250">
                <a:solidFill>
                  <a:srgbClr val="7A7570"/>
                </a:solidFill>
                <a:latin typeface="Inter"/>
              </a:defRPr>
            </a:pPr>
            <a:r>
              <a:t>Captures application exceptions automatically to guarantee standard, clean JSON client responses.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011680"/>
            <a:ext cx="4846320" cy="3840480"/>
          </a:xfrm>
          <a:prstGeom prst="rect">
            <a:avLst/>
          </a:prstGeom>
          <a:solidFill>
            <a:srgbClr val="2A2825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200">
                <a:solidFill>
                  <a:srgbClr val="C9A961"/>
                </a:solidFill>
                <a:latin typeface="Consolas"/>
              </a:defRPr>
            </a:pPr>
            <a:r>
              <a:t>// JWT Verification Middleware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const authenticate = (req, res, next) =&gt; {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const token = req.headers.authorization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?.split(' ')[1];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if (!token) return res.status(401)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.json({ error: 'Access denied' });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const verified = jwt.verify(token,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  process.env.JWT_SECRET);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req.user = verified;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next();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res.status(403)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    .json({ error: 'Invalid token' });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  }</a:t>
            </a:r>
          </a:p>
          <a:p>
            <a:pPr>
              <a:defRPr sz="1100">
                <a:solidFill>
                  <a:srgbClr val="FAF8F3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Inter"/>
              </a:defRPr>
            </a:pPr>
            <a:r>
              <a:t>Marhba مرحباً   |   Setup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A2825"/>
                </a:solidFill>
                <a:latin typeface="Georgia"/>
              </a:defRPr>
            </a:pPr>
            <a:r>
              <a:t>🏁 Getting Started &amp; Running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07856"/>
                </a:solidFill>
                <a:latin typeface="Georgia"/>
              </a:defRPr>
            </a:pPr>
            <a:r>
              <a:t>📦 Backend Services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cd backend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npm install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docker-compose up -d  # Postgres DB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npm start             # Port 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07856"/>
                </a:solidFill>
                <a:latin typeface="Georgia"/>
              </a:defRPr>
            </a:pPr>
            <a:r>
              <a:t>📱 Mobile Services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cd mobile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npm install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# configure base API address in services/api.js</a:t>
            </a:r>
          </a:p>
          <a:p>
            <a:pPr>
              <a:spcAft>
                <a:spcPts val="800"/>
              </a:spcAft>
              <a:defRPr sz="1300">
                <a:solidFill>
                  <a:srgbClr val="2A2825"/>
                </a:solidFill>
                <a:latin typeface="Consolas"/>
              </a:defRPr>
            </a:pPr>
            <a:r>
              <a:t>$ npm start             # Launch Metro Bundler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